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SecureBank Pro</a:t>
            </a:r>
          </a:p>
          <a:p>
            <a:pPr>
              <a:defRPr sz="2200">
                <a:solidFill>
                  <a:srgbClr val="2980B9"/>
                </a:solidFill>
              </a:defRPr>
            </a:pPr>
            <a:r>
              <a:t>Intentionally Vulnerable Banking Portal &amp; Security Education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2895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🌐 Live Deployment: https://securebankpro-vuln-web.vercel.app/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💻 GitHub Repository: https://github.com/Bshashank123/securebankpro-vuln-web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980B9"/>
                </a:solidFill>
              </a:defRPr>
            </a:pPr>
            <a:r>
              <a:t>SECUREBANK PRO TECHNICAL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Executive Project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800">
                <a:solidFill>
                  <a:srgbClr val="2C3E50"/>
                </a:solidFill>
              </a:defRPr>
            </a:pPr>
            <a:r>
              <a:t>SecureBank Pro is an intentionally vulnerable, full-stack online banking web application engineered for cybersecurity education, vulnerability analysis, and web security defense comparison. Designed with a clean 2018 corporate enterprise aesthetic, the system features a dual-controller architecture that enables users to toggle dynamically between an Attack Mode (exposing six critical OWASP Top 10 vulnerabilities) and a Secure Mode (implementing enterprise-grade defensive mitigations), backed by a real-time telemetry engine that tracks security testing progress and exploit attempts across lab sessions.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980B9"/>
                </a:solidFill>
              </a:defRPr>
            </a:pPr>
            <a:r>
              <a:t>SECUREBANK PRO TECHNICAL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System Architecture &amp;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C3E50"/>
                </a:solidFill>
              </a:defRPr>
            </a:pPr>
            <a:r>
              <a:t>• Core Backend: Node.js &amp; Express.js server-rendered application architecture.</a:t>
            </a:r>
          </a:p>
          <a:p>
            <a:pPr>
              <a:spcAft>
                <a:spcPts val="1400"/>
              </a:spcAft>
              <a:defRPr sz="1600">
                <a:solidFill>
                  <a:srgbClr val="2C3E50"/>
                </a:solidFill>
              </a:defRPr>
            </a:pPr>
            <a:r>
              <a:t>• Database Engine: SQLite3 dual-table schema managing core banking records and telemetry metrics.</a:t>
            </a:r>
          </a:p>
          <a:p>
            <a:pPr>
              <a:spcAft>
                <a:spcPts val="1400"/>
              </a:spcAft>
              <a:defRPr sz="1600">
                <a:solidFill>
                  <a:srgbClr val="2C3E50"/>
                </a:solidFill>
              </a:defRPr>
            </a:pPr>
            <a:r>
              <a:t>• Frontend &amp; UI Design: Server-side EJS templates with a 2018 corporate neutral palette (Slate &amp; Navy).</a:t>
            </a:r>
          </a:p>
          <a:p>
            <a:pPr>
              <a:spcAft>
                <a:spcPts val="1400"/>
              </a:spcAft>
              <a:defRPr sz="1600">
                <a:solidFill>
                  <a:srgbClr val="2C3E50"/>
                </a:solidFill>
              </a:defRPr>
            </a:pPr>
            <a:r>
              <a:t>• Containerization &amp; Cloud: Packaged via Docker Compose and deployed to Vercel Serverless Function architecture.</a:t>
            </a:r>
          </a:p>
          <a:p>
            <a:pPr>
              <a:spcAft>
                <a:spcPts val="1400"/>
              </a:spcAft>
              <a:defRPr sz="1600">
                <a:solidFill>
                  <a:srgbClr val="2C3E50"/>
                </a:solidFill>
              </a:defRPr>
            </a:pPr>
            <a:r>
              <a:t>• Session Management: Express-Session tracking dynamic Attack Mode vs Secure Mode state per participant.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980B9"/>
                </a:solidFill>
              </a:defRPr>
            </a:pPr>
            <a:r>
              <a:t>SECUREBANK PRO TECHNICAL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Interactive Dual-Mode Controller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C3E50"/>
                </a:solidFill>
              </a:defRPr>
            </a:pPr>
            <a:r>
              <a:t>• Dynamic Mode Switcher: Users toggle between ATTACK MODE and SECURE MODE via the top navigation bar.</a:t>
            </a:r>
          </a:p>
          <a:p>
            <a:pPr>
              <a:spcAft>
                <a:spcPts val="1400"/>
              </a:spcAft>
              <a:defRPr sz="1600">
                <a:solidFill>
                  <a:srgbClr val="2C3E50"/>
                </a:solidFill>
              </a:defRPr>
            </a:pPr>
            <a:r>
              <a:t>• Single Endpoint Routing: Identical URLs evaluate session state (req.session.isSecureMode) to route requests.</a:t>
            </a:r>
          </a:p>
          <a:p>
            <a:pPr>
              <a:spcAft>
                <a:spcPts val="1400"/>
              </a:spcAft>
              <a:defRPr sz="1600">
                <a:solidFill>
                  <a:srgbClr val="2C3E50"/>
                </a:solidFill>
              </a:defRPr>
            </a:pPr>
            <a:r>
              <a:t>• Attack Mode Branch: Executes vulnerable code routines (string concatenation, unescaped HTML, missing CSRF tokens).</a:t>
            </a:r>
          </a:p>
          <a:p>
            <a:pPr>
              <a:spcAft>
                <a:spcPts val="1400"/>
              </a:spcAft>
              <a:defRPr sz="1600">
                <a:solidFill>
                  <a:srgbClr val="2C3E50"/>
                </a:solidFill>
              </a:defRPr>
            </a:pPr>
            <a:r>
              <a:t>• Secure Mode Branch: Executes enterprise defenses (prepared statements, HTML entity encoding, CSRF tokens, lockouts).</a:t>
            </a:r>
          </a:p>
          <a:p>
            <a:pPr>
              <a:spcAft>
                <a:spcPts val="1400"/>
              </a:spcAft>
              <a:defRPr sz="1600">
                <a:solidFill>
                  <a:srgbClr val="2C3E50"/>
                </a:solidFill>
              </a:defRPr>
            </a:pPr>
            <a:r>
              <a:t>• Side-by-Side Learning: Allows developers to immediately test payloads and observe why secure mitigations succeed.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980B9"/>
                </a:solidFill>
              </a:defRPr>
            </a:pPr>
            <a:r>
              <a:t>SECUREBANK PRO TECHNICAL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Real-Time Telemetry &amp; Progress Tracking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2C3E50"/>
                </a:solidFill>
              </a:defRPr>
            </a:pPr>
            <a:r>
              <a:t>• Live Home Dashboard: Displays total lab sessions, total exploit attempts, and participants who completed all 6 vulns.</a:t>
            </a:r>
          </a:p>
          <a:p>
            <a:pPr>
              <a:spcAft>
                <a:spcPts val="1600"/>
              </a:spcAft>
              <a:defRPr sz="1600">
                <a:solidFill>
                  <a:srgbClr val="2C3E50"/>
                </a:solidFill>
              </a:defRPr>
            </a:pPr>
            <a:r>
              <a:t>• Automated Solve Verification: Payloads trigger attempt counts; COMPLETED status is awarded strictly upon successful exploit execution.</a:t>
            </a:r>
          </a:p>
          <a:p>
            <a:pPr>
              <a:spcAft>
                <a:spcPts val="1600"/>
              </a:spcAft>
              <a:defRPr sz="1600">
                <a:solidFill>
                  <a:srgbClr val="2C3E50"/>
                </a:solidFill>
              </a:defRPr>
            </a:pPr>
            <a:r>
              <a:t>• Session Progress Tracking: SQLite session_progress table records individual progress per user session.</a:t>
            </a:r>
          </a:p>
          <a:p>
            <a:pPr>
              <a:spcAft>
                <a:spcPts val="1600"/>
              </a:spcAft>
              <a:defRPr sz="1600">
                <a:solidFill>
                  <a:srgbClr val="2C3E50"/>
                </a:solidFill>
              </a:defRPr>
            </a:pPr>
            <a:r>
              <a:t>• Administrative Audit Panel: Accessible at /admin for viewing timestamped attack logs and aggregate success rates.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980B9"/>
                </a:solidFill>
              </a:defRPr>
            </a:pPr>
            <a:r>
              <a:t>SECUREBANK PRO TECHNICAL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Vulnerability 1: SQL Injection (SQLi)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980B9"/>
                </a:solidFill>
              </a:defRPr>
            </a:pPr>
            <a:r>
              <a:t>• Target Endpoint: /login (POST)</a:t>
            </a:r>
          </a:p>
          <a:p>
            <a:pPr>
              <a:spcAft>
                <a:spcPts val="1000"/>
              </a:spcAft>
              <a:defRPr sz="1500">
                <a:solidFill>
                  <a:srgbClr val="C0392B"/>
                </a:solidFill>
              </a:defRPr>
            </a:pPr>
            <a:r>
              <a:t>• Attack Mode Implementation: Concatenates raw user input into SQL query strings (SELECT * FROM users WHERE username = '${username}'...).</a:t>
            </a:r>
          </a:p>
          <a:p>
            <a:pPr>
              <a:spcAft>
                <a:spcPts val="1000"/>
              </a:spcAft>
              <a:defRPr sz="1500">
                <a:solidFill>
                  <a:srgbClr val="2C3E50"/>
                </a:solidFill>
              </a:defRPr>
            </a:pPr>
            <a:r>
              <a:t>• Exploit Demonstration: Inputting admin' -- bypasses password verification to log in as Administrator.</a:t>
            </a:r>
          </a:p>
          <a:p>
            <a:pPr>
              <a:defRPr sz="1500">
                <a:solidFill>
                  <a:srgbClr val="27AE60"/>
                </a:solidFill>
              </a:defRPr>
            </a:pPr>
            <a:r>
              <a:t>• Secure Mode Mitigation: Uses Parameterized Queries (WHERE username = ? AND password = ?), neutralizing SQL syntax manipulation.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980B9"/>
                </a:solidFill>
              </a:defRPr>
            </a:pPr>
            <a:r>
              <a:t>SECUREBANK PRO TECHNICAL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Vulnerability 2: Weak Authentication &amp; Brute-Force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980B9"/>
                </a:solidFill>
              </a:defRPr>
            </a:pPr>
            <a:r>
              <a:t>• Target Endpoint: /login (POST)</a:t>
            </a:r>
          </a:p>
          <a:p>
            <a:pPr>
              <a:spcAft>
                <a:spcPts val="1000"/>
              </a:spcAft>
              <a:defRPr sz="1500">
                <a:solidFill>
                  <a:srgbClr val="C0392B"/>
                </a:solidFill>
              </a:defRPr>
            </a:pPr>
            <a:r>
              <a:t>• Attack Mode Implementation: Includes default admin account (admin/admin) with zero login throttling or account lockouts.</a:t>
            </a:r>
          </a:p>
          <a:p>
            <a:pPr>
              <a:spcAft>
                <a:spcPts val="1000"/>
              </a:spcAft>
              <a:defRPr sz="1500">
                <a:solidFill>
                  <a:srgbClr val="2C3E50"/>
                </a:solidFill>
              </a:defRPr>
            </a:pPr>
            <a:r>
              <a:t>• Exploit Demonstration: Enables unlimited automated credential brute-forcing via tools like Burp Suite Intruder.</a:t>
            </a:r>
          </a:p>
          <a:p>
            <a:pPr>
              <a:defRPr sz="1500">
                <a:solidFill>
                  <a:srgbClr val="27AE60"/>
                </a:solidFill>
              </a:defRPr>
            </a:pPr>
            <a:r>
              <a:t>• Secure Mode Mitigation: Enforces session failed login counters, triggering account lockout after 5 consecutive failures.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980B9"/>
                </a:solidFill>
              </a:defRPr>
            </a:pPr>
            <a:r>
              <a:t>SECUREBANK PRO TECHNICAL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Vulnerability 3: Stored Cross-Site Scripting (XSS)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980B9"/>
                </a:solidFill>
              </a:defRPr>
            </a:pPr>
            <a:r>
              <a:t>• Target Endpoint: /profile/update (POST) &amp; /profile (GET)</a:t>
            </a:r>
          </a:p>
          <a:p>
            <a:pPr>
              <a:spcAft>
                <a:spcPts val="1000"/>
              </a:spcAft>
              <a:defRPr sz="1500">
                <a:solidFill>
                  <a:srgbClr val="C0392B"/>
                </a:solidFill>
              </a:defRPr>
            </a:pPr>
            <a:r>
              <a:t>• Attack Mode Implementation: Stores unsanitized bio HTML input into SQLite and renders raw output via EJS &lt;%- user.about_me %&gt;.</a:t>
            </a:r>
          </a:p>
          <a:p>
            <a:pPr>
              <a:spcAft>
                <a:spcPts val="1000"/>
              </a:spcAft>
              <a:defRPr sz="1500">
                <a:solidFill>
                  <a:srgbClr val="2C3E50"/>
                </a:solidFill>
              </a:defRPr>
            </a:pPr>
            <a:r>
              <a:t>• Exploit Demonstration: Submitting &lt;script&gt;alert('XSS')&lt;/script&gt; persistently executes JavaScript whenever profile is loaded.</a:t>
            </a:r>
          </a:p>
          <a:p>
            <a:pPr>
              <a:defRPr sz="1500">
                <a:solidFill>
                  <a:srgbClr val="27AE60"/>
                </a:solidFill>
              </a:defRPr>
            </a:pPr>
            <a:r>
              <a:t>• Secure Mode Mitigation: Enforces EJS contextual entity encoding &lt;%= user.about_me %&gt;, safely escaping script tags into plain text.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980B9"/>
                </a:solidFill>
              </a:defRPr>
            </a:pPr>
            <a:r>
              <a:t>SECUREBANK PRO TECHNICAL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Vulnerability 4: Insecure Direct Object Reference (IDOR)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980B9"/>
                </a:solidFill>
              </a:defRPr>
            </a:pPr>
            <a:r>
              <a:t>• Target Endpoint: /transaction?id=... (GET)</a:t>
            </a:r>
          </a:p>
          <a:p>
            <a:pPr>
              <a:spcAft>
                <a:spcPts val="1000"/>
              </a:spcAft>
              <a:defRPr sz="1500">
                <a:solidFill>
                  <a:srgbClr val="C0392B"/>
                </a:solidFill>
              </a:defRPr>
            </a:pPr>
            <a:r>
              <a:t>• Attack Mode Implementation: Queries database receipts directly by URL parameter id without checking session user ownership.</a:t>
            </a:r>
          </a:p>
          <a:p>
            <a:pPr>
              <a:spcAft>
                <a:spcPts val="1000"/>
              </a:spcAft>
              <a:defRPr sz="1500">
                <a:solidFill>
                  <a:srgbClr val="2C3E50"/>
                </a:solidFill>
              </a:defRPr>
            </a:pPr>
            <a:r>
              <a:t>• Exploit Demonstration: User john_doe changing ?id=102 to ?id=104 discloses private executive financial receipts.</a:t>
            </a:r>
          </a:p>
          <a:p>
            <a:pPr>
              <a:defRPr sz="1500">
                <a:solidFill>
                  <a:srgbClr val="27AE60"/>
                </a:solidFill>
              </a:defRPr>
            </a:pPr>
            <a:r>
              <a:t>• Secure Mode Mitigation: Validates session ownership (sender_id = user.id OR receiver_id = user.id), returning 403 Forbidden.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980B9"/>
                </a:solidFill>
              </a:defRPr>
            </a:pPr>
            <a:r>
              <a:t>SECUREBANK PRO TECHNICAL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Vulnerability 5: Cross-Site Request Forgery (CSRF)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980B9"/>
                </a:solidFill>
              </a:defRPr>
            </a:pPr>
            <a:r>
              <a:t>• Target Endpoint: /transfer (POST)</a:t>
            </a:r>
          </a:p>
          <a:p>
            <a:pPr>
              <a:spcAft>
                <a:spcPts val="1000"/>
              </a:spcAft>
              <a:defRPr sz="1500">
                <a:solidFill>
                  <a:srgbClr val="C0392B"/>
                </a:solidFill>
              </a:defRPr>
            </a:pPr>
            <a:r>
              <a:t>• Attack Mode Implementation: Processes funds transfers based solely on ambient session cookies without verifying anti-CSRF state tokens.</a:t>
            </a:r>
          </a:p>
          <a:p>
            <a:pPr>
              <a:spcAft>
                <a:spcPts val="1000"/>
              </a:spcAft>
              <a:defRPr sz="1500">
                <a:solidFill>
                  <a:srgbClr val="2C3E50"/>
                </a:solidFill>
              </a:defRPr>
            </a:pPr>
            <a:r>
              <a:t>• Exploit Demonstration: External malicious websites host auto-submitting forms targeting /transfer to silently drain accounts.</a:t>
            </a:r>
          </a:p>
          <a:p>
            <a:pPr>
              <a:defRPr sz="1500">
                <a:solidFill>
                  <a:srgbClr val="27AE60"/>
                </a:solidFill>
              </a:defRPr>
            </a:pPr>
            <a:r>
              <a:t>• Secure Mode Mitigation: Generates per-session cryptographically signed _csrf tokens and validates presence on POST requests.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980B9"/>
                </a:solidFill>
              </a:defRPr>
            </a:pPr>
            <a:r>
              <a:t>SECUREBANK PRO TECHNICAL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Vulnerability 6: Unvalidated File Upload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980B9"/>
                </a:solidFill>
              </a:defRPr>
            </a:pPr>
            <a:r>
              <a:t>• Target Endpoint: /profile/upload (POST)</a:t>
            </a:r>
          </a:p>
          <a:p>
            <a:pPr>
              <a:spcAft>
                <a:spcPts val="1000"/>
              </a:spcAft>
              <a:defRPr sz="1500">
                <a:solidFill>
                  <a:srgbClr val="C0392B"/>
                </a:solidFill>
              </a:defRPr>
            </a:pPr>
            <a:r>
              <a:t>• Attack Mode Implementation: Accepts arbitrary uploaded file extensions (.txt, .html, .exe) into public directory using original names.</a:t>
            </a:r>
          </a:p>
          <a:p>
            <a:pPr>
              <a:spcAft>
                <a:spcPts val="1000"/>
              </a:spcAft>
              <a:defRPr sz="1500">
                <a:solidFill>
                  <a:srgbClr val="2C3E50"/>
                </a:solidFill>
              </a:defRPr>
            </a:pPr>
            <a:r>
              <a:t>• Exploit Demonstration: Uploading executable or web script files to serve arbitrary content directly from the server.</a:t>
            </a:r>
          </a:p>
          <a:p>
            <a:pPr>
              <a:defRPr sz="1500">
                <a:solidFill>
                  <a:srgbClr val="27AE60"/>
                </a:solidFill>
              </a:defRPr>
            </a:pPr>
            <a:r>
              <a:t>• Secure Mode Mitigation: Enforces MIME type checking (image/*), restricts extensions (.png, .jpg), and renames files to randomized UUIDs.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200" b="1">
                <a:solidFill>
                  <a:srgbClr val="FFFFFF"/>
                </a:solidFill>
              </a:defRPr>
            </a:pPr>
            <a:r>
              <a:t>Deployment &amp; Educational Conclusion</a:t>
            </a:r>
          </a:p>
          <a:p>
            <a:pPr>
              <a:spcAft>
                <a:spcPts val="1200"/>
              </a:spcAft>
              <a:defRPr sz="1800">
                <a:solidFill>
                  <a:srgbClr val="2980B9"/>
                </a:solidFill>
              </a:defRPr>
            </a:pPr>
            <a:r>
              <a:t>✓ Local Execution: Standalone Node.js server (npm start).</a:t>
            </a:r>
          </a:p>
          <a:p>
            <a:pPr>
              <a:spcAft>
                <a:spcPts val="1200"/>
              </a:spcAft>
              <a:defRPr sz="1800">
                <a:solidFill>
                  <a:srgbClr val="2980B9"/>
                </a:solidFill>
              </a:defRPr>
            </a:pPr>
            <a:r>
              <a:t>✓ Containerized Deployment: Docker Compose for isolated lab environments.</a:t>
            </a:r>
          </a:p>
          <a:p>
            <a:pPr>
              <a:spcAft>
                <a:spcPts val="1200"/>
              </a:spcAft>
              <a:defRPr sz="1800">
                <a:solidFill>
                  <a:srgbClr val="2980B9"/>
                </a:solidFill>
              </a:defRPr>
            </a:pPr>
            <a:r>
              <a:t>✓ Vercel Serverless Architecture: Deployed with dynamic /tmp SQLite storage.</a:t>
            </a:r>
          </a:p>
          <a:p>
            <a:pPr>
              <a:spcAft>
                <a:spcPts val="1200"/>
              </a:spcAft>
              <a:defRPr sz="1800">
                <a:solidFill>
                  <a:srgbClr val="2980B9"/>
                </a:solidFill>
              </a:defRPr>
            </a:pPr>
            <a:r>
              <a:t>✓ Educational Value: An interactive hands-on lab demonstrating real-world web application security principles.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